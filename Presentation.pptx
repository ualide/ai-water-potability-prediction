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/>
              <a:t>Hello everyone.</a:t>
            </a:r>
            <a:endParaRPr lang="en-US" altLang="de-DE" dirty="0"/>
          </a:p>
          <a:p>
            <a:r>
              <a:rPr lang="en-US" altLang="de-DE" dirty="0"/>
              <a:t>Today I will present </a:t>
            </a:r>
            <a:r>
              <a:rPr lang="de-DE" altLang="en-US" dirty="0">
                <a:latin typeface="Calibri" panose="020F0502020204030204" pitchFamily="34" charset="0"/>
              </a:rPr>
              <a:t>our </a:t>
            </a:r>
            <a:r>
              <a:rPr lang="en-US" altLang="de-DE" dirty="0"/>
              <a:t>AI / Machine Learning project called Smart Water Monitoring System.</a:t>
            </a:r>
            <a:endParaRPr lang="en-US" altLang="de-DE" dirty="0"/>
          </a:p>
          <a:p>
            <a:r>
              <a:rPr lang="en-US" altLang="de-DE" dirty="0"/>
              <a:t>This project predicts if water is safe to drink using Artificial Intelligence.</a:t>
            </a:r>
            <a:endParaRPr lang="en-US" altLang="de-DE" dirty="0"/>
          </a:p>
          <a:p>
            <a:r>
              <a:rPr lang="en-US" altLang="de-DE" dirty="0"/>
              <a:t>It also provides real-time analysis and stores prediction history.</a:t>
            </a:r>
            <a:endParaRPr lang="en-US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/>
              <a:t>Water quality is a global issue.</a:t>
            </a:r>
            <a:endParaRPr lang="en-US" altLang="de-DE" dirty="0"/>
          </a:p>
          <a:p>
            <a:r>
              <a:rPr lang="en-US" altLang="de-DE" dirty="0"/>
              <a:t>Traditional laboratory testing can be slow and expensive.</a:t>
            </a:r>
            <a:endParaRPr lang="en-US" altLang="de-DE" dirty="0"/>
          </a:p>
          <a:p>
            <a:r>
              <a:rPr lang="en-US" altLang="de-DE" dirty="0"/>
              <a:t>So the objective of </a:t>
            </a:r>
            <a:r>
              <a:rPr lang="de-DE" altLang="en-US" dirty="0">
                <a:latin typeface="Calibri" panose="020F0502020204030204" pitchFamily="34" charset="0"/>
              </a:rPr>
              <a:t>our</a:t>
            </a:r>
            <a:r>
              <a:rPr lang="en-US" altLang="de-DE" dirty="0"/>
              <a:t> project is to create a fast intelligent system that predicts water potability instantly.</a:t>
            </a:r>
            <a:endParaRPr lang="en-US" altLang="de-DE" dirty="0"/>
          </a:p>
          <a:p>
            <a:endParaRPr lang="en-US" altLang="de-DE" dirty="0"/>
          </a:p>
          <a:p>
            <a:r>
              <a:rPr lang="en-US" altLang="de-DE" dirty="0"/>
              <a:t>Potability means if water is safe for human drinking.</a:t>
            </a:r>
            <a:endParaRPr lang="en-US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/>
              <a:t>The system contains 4 main parts:</a:t>
            </a:r>
            <a:endParaRPr lang="en-US" altLang="de-DE" dirty="0"/>
          </a:p>
          <a:p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1. </a:t>
            </a:r>
            <a:r>
              <a:rPr lang="en-US" altLang="de-DE" dirty="0"/>
              <a:t>Frontend using Streamlit</a:t>
            </a:r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2. </a:t>
            </a:r>
            <a:r>
              <a:rPr lang="en-US" altLang="de-DE" dirty="0"/>
              <a:t>Backend API using FastAPI</a:t>
            </a:r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3. </a:t>
            </a:r>
            <a:r>
              <a:rPr lang="en-US" altLang="de-DE" dirty="0"/>
              <a:t>Machine Learning model</a:t>
            </a:r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4. </a:t>
            </a:r>
            <a:r>
              <a:rPr lang="en-US" altLang="de-DE" dirty="0"/>
              <a:t>SQLite database</a:t>
            </a:r>
            <a:endParaRPr lang="en-US" altLang="de-DE" dirty="0"/>
          </a:p>
          <a:p>
            <a:endParaRPr lang="en-US" altLang="de-DE" dirty="0"/>
          </a:p>
          <a:p>
            <a:r>
              <a:rPr lang="en-US" altLang="de-DE" dirty="0"/>
              <a:t>Data flows from user input to the AI model, then result is shown and saved in database.</a:t>
            </a:r>
            <a:endParaRPr lang="en-US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/>
              <a:t>The model uses 9 important chemical parameters such as:</a:t>
            </a:r>
            <a:endParaRPr lang="en-US" altLang="de-DE" dirty="0"/>
          </a:p>
          <a:p>
            <a:endParaRPr lang="en-US" altLang="de-DE" dirty="0"/>
          </a:p>
          <a:p>
            <a:r>
              <a:rPr lang="en-US" altLang="de-DE" dirty="0"/>
              <a:t>pH</a:t>
            </a:r>
            <a:endParaRPr lang="en-US" altLang="de-DE" dirty="0"/>
          </a:p>
          <a:p>
            <a:r>
              <a:rPr lang="en-US" altLang="de-DE" dirty="0"/>
              <a:t>Hardness</a:t>
            </a:r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...</a:t>
            </a:r>
            <a:endParaRPr lang="de-DE" altLang="en-US" dirty="0">
              <a:latin typeface="Calibri" panose="020F0502020204030204" pitchFamily="34" charset="0"/>
            </a:endParaRPr>
          </a:p>
          <a:p>
            <a:endParaRPr lang="en-US" altLang="de-DE" dirty="0"/>
          </a:p>
          <a:p>
            <a:r>
              <a:rPr lang="en-US" altLang="de-DE" dirty="0"/>
              <a:t>These values help determine if water is drinkable or not.</a:t>
            </a:r>
            <a:endParaRPr lang="en-US" altLang="de-DE" dirty="0"/>
          </a:p>
          <a:p>
            <a:endParaRPr lang="ar-SA" altLang="en-US" dirty="0"/>
          </a:p>
          <a:p>
            <a:r>
              <a:rPr lang="en-US" altLang="de-DE" dirty="0"/>
              <a:t> </a:t>
            </a:r>
            <a:r>
              <a:rPr lang="ar-SA" altLang="en-US" dirty="0"/>
              <a:t>علاش؟</a:t>
            </a:r>
            <a:endParaRPr lang="en-US" altLang="de-DE" dirty="0"/>
          </a:p>
          <a:p>
            <a:r>
              <a:rPr lang="en-US" altLang="de-DE" dirty="0"/>
              <a:t>Because the dataset was built using these scientific water quality indicators.</a:t>
            </a:r>
            <a:endParaRPr lang="en-US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/>
              <a:t>Main features of the system are:</a:t>
            </a:r>
            <a:endParaRPr lang="en-US" altLang="de-DE" dirty="0"/>
          </a:p>
          <a:p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AI classification</a:t>
            </a:r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CSV file upload</a:t>
            </a:r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Prediction history</a:t>
            </a:r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REST API</a:t>
            </a:r>
            <a:r>
              <a:rPr lang="de-DE" altLang="en-US" dirty="0">
                <a:latin typeface="Calibri" panose="020F0502020204030204" pitchFamily="34" charset="0"/>
              </a:rPr>
              <a:t> : </a:t>
            </a:r>
            <a:r>
              <a:rPr lang="en-US" altLang="de-DE" dirty="0"/>
              <a:t>The project includes a REST API built with FastAPI.</a:t>
            </a:r>
            <a:r>
              <a:rPr lang="de-DE" altLang="en-US" dirty="0">
                <a:latin typeface="Calibri" panose="020F0502020204030204" pitchFamily="34" charset="0"/>
              </a:rPr>
              <a:t>    </a:t>
            </a:r>
            <a:r>
              <a:rPr lang="en-US" altLang="de-DE" dirty="0"/>
              <a:t>It allows communication between frontend and backend using HTTP requests.</a:t>
            </a:r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Confidence score</a:t>
            </a:r>
            <a:r>
              <a:rPr lang="de-DE" altLang="en-US" dirty="0">
                <a:latin typeface="Calibri" panose="020F0502020204030204" pitchFamily="34" charset="0"/>
              </a:rPr>
              <a:t> : </a:t>
            </a:r>
            <a:r>
              <a:rPr lang="en-US" altLang="de-DE" dirty="0"/>
              <a:t>Along with the prediction, the system gives a confidence score.</a:t>
            </a:r>
            <a:r>
              <a:rPr lang="de-DE" altLang="en-US" dirty="0">
                <a:latin typeface="Calibri" panose="020F0502020204030204" pitchFamily="34" charset="0"/>
              </a:rPr>
              <a:t>     </a:t>
            </a:r>
            <a:r>
              <a:rPr lang="en-US" altLang="de-DE" dirty="0"/>
              <a:t>This score shows how certain the model is about its result.</a:t>
            </a:r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Real-time results</a:t>
            </a:r>
            <a:r>
              <a:rPr lang="de-DE" altLang="en-US" dirty="0">
                <a:latin typeface="Calibri" panose="020F0502020204030204" pitchFamily="34" charset="0"/>
              </a:rPr>
              <a:t> without delay</a:t>
            </a:r>
            <a:endParaRPr lang="de-DE" altLang="en-US" dirty="0">
              <a:latin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/>
              <a:t>Technologies used:</a:t>
            </a:r>
            <a:endParaRPr lang="en-US" altLang="de-DE" dirty="0"/>
          </a:p>
          <a:p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Frontend:</a:t>
            </a:r>
            <a:endParaRPr lang="en-US" altLang="de-DE" dirty="0"/>
          </a:p>
          <a:p>
            <a:r>
              <a:rPr lang="en-US" altLang="de-DE" dirty="0"/>
              <a:t>Streamlit</a:t>
            </a:r>
            <a:r>
              <a:rPr lang="de-DE" altLang="en-US" dirty="0">
                <a:latin typeface="Calibri" panose="020F0502020204030204" pitchFamily="34" charset="0"/>
              </a:rPr>
              <a:t> : </a:t>
            </a:r>
            <a:r>
              <a:rPr lang="en-US" altLang="de-DE" dirty="0"/>
              <a:t>It is a Python framework that allows creating interactive web interfaces quickly and easily</a:t>
            </a:r>
            <a:r>
              <a:rPr lang="de-DE" altLang="en-US" dirty="0">
                <a:latin typeface="Calibri" panose="020F0502020204030204" pitchFamily="34" charset="0"/>
              </a:rPr>
              <a:t>.</a:t>
            </a:r>
            <a:endParaRPr lang="en-US" altLang="de-DE" dirty="0"/>
          </a:p>
          <a:p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Backend:</a:t>
            </a:r>
            <a:endParaRPr lang="en-US" altLang="de-DE" dirty="0"/>
          </a:p>
          <a:p>
            <a:r>
              <a:rPr lang="en-US" altLang="de-DE" dirty="0"/>
              <a:t>FastAPI</a:t>
            </a:r>
            <a:r>
              <a:rPr lang="de-DE" altLang="en-US" dirty="0">
                <a:latin typeface="Calibri" panose="020F0502020204030204" pitchFamily="34" charset="0"/>
              </a:rPr>
              <a:t>: </a:t>
            </a:r>
            <a:r>
              <a:rPr lang="en-US" altLang="de-DE" dirty="0"/>
              <a:t>It is a modern and high-performance framework used to build APIs in Python.</a:t>
            </a:r>
            <a:r>
              <a:rPr lang="de-DE" altLang="en-US" dirty="0">
                <a:latin typeface="Calibri" panose="020F0502020204030204" pitchFamily="34" charset="0"/>
              </a:rPr>
              <a:t> </a:t>
            </a:r>
            <a:r>
              <a:rPr lang="en-US" altLang="de-DE" dirty="0"/>
              <a:t>It handles requests, receives input data, and returns prediction results.</a:t>
            </a:r>
            <a:r>
              <a:rPr lang="de-DE" altLang="en-US" dirty="0">
                <a:latin typeface="Calibri" panose="020F0502020204030204" pitchFamily="34" charset="0"/>
              </a:rPr>
              <a:t>                   </a:t>
            </a:r>
            <a:endParaRPr lang="en-US" altLang="de-DE" dirty="0"/>
          </a:p>
          <a:p>
            <a:r>
              <a:rPr lang="en-US" altLang="de-DE" dirty="0"/>
              <a:t>Uvicorn</a:t>
            </a:r>
            <a:r>
              <a:rPr lang="de-DE" altLang="en-US" dirty="0">
                <a:latin typeface="Calibri" panose="020F0502020204030204" pitchFamily="34" charset="0"/>
              </a:rPr>
              <a:t> : </a:t>
            </a:r>
            <a:r>
              <a:rPr lang="en-US" altLang="de-DE" dirty="0"/>
              <a:t>It is responsible for launching and serving the backend application</a:t>
            </a:r>
            <a:r>
              <a:rPr lang="de-DE" altLang="en-US" dirty="0">
                <a:latin typeface="Calibri" panose="020F0502020204030204" pitchFamily="34" charset="0"/>
              </a:rPr>
              <a:t>.</a:t>
            </a:r>
            <a:endParaRPr lang="en-US" altLang="de-DE" dirty="0"/>
          </a:p>
          <a:p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Database:</a:t>
            </a:r>
            <a:endParaRPr lang="en-US" altLang="de-DE" dirty="0"/>
          </a:p>
          <a:p>
            <a:r>
              <a:rPr lang="en-US" altLang="de-DE" dirty="0"/>
              <a:t>SQLite</a:t>
            </a:r>
            <a:endParaRPr lang="en-US" altLang="de-DE" dirty="0"/>
          </a:p>
          <a:p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Machine Learning:</a:t>
            </a:r>
            <a:endParaRPr lang="en-US" altLang="de-DE" dirty="0"/>
          </a:p>
          <a:p>
            <a:r>
              <a:rPr lang="en-US" altLang="de-DE" dirty="0"/>
              <a:t>Scikit-learn</a:t>
            </a:r>
            <a:r>
              <a:rPr lang="de-DE" altLang="en-US" dirty="0">
                <a:latin typeface="Calibri" panose="020F0502020204030204" pitchFamily="34" charset="0"/>
              </a:rPr>
              <a:t> : </a:t>
            </a:r>
            <a:r>
              <a:rPr lang="en-US" altLang="de-DE" dirty="0"/>
              <a:t>It is a popular Python library used to train and test AI models.</a:t>
            </a:r>
            <a:r>
              <a:rPr lang="de-DE" altLang="en-US" dirty="0">
                <a:latin typeface="Calibri" panose="020F0502020204030204" pitchFamily="34" charset="0"/>
              </a:rPr>
              <a:t> </a:t>
            </a:r>
            <a:r>
              <a:rPr lang="en-US" altLang="de-DE" dirty="0"/>
              <a:t>It was used to build the classification model for water potability prediction.</a:t>
            </a:r>
            <a:endParaRPr lang="en-US" altLang="de-DE" dirty="0"/>
          </a:p>
          <a:p>
            <a:endParaRPr lang="en-US" altLang="de-DE" dirty="0"/>
          </a:p>
          <a:p>
            <a:r>
              <a:rPr lang="de-DE" altLang="en-US" dirty="0">
                <a:latin typeface="Calibri" panose="020F0502020204030204" pitchFamily="34" charset="0"/>
              </a:rPr>
              <a:t>*</a:t>
            </a:r>
            <a:r>
              <a:rPr lang="en-US" altLang="de-DE" dirty="0"/>
              <a:t>Programming language:</a:t>
            </a:r>
            <a:endParaRPr lang="en-US" altLang="de-DE" dirty="0"/>
          </a:p>
          <a:p>
            <a:r>
              <a:rPr lang="en-US" altLang="de-DE" dirty="0"/>
              <a:t>Python</a:t>
            </a:r>
            <a:endParaRPr lang="en-US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dirty="0"/>
              <a:t>In conclusion, this project demonstrates how AI can help solve real-world problems.</a:t>
            </a:r>
            <a:endParaRPr lang="en-US" altLang="de-DE" dirty="0"/>
          </a:p>
          <a:p>
            <a:r>
              <a:rPr lang="en-US" altLang="de-DE" dirty="0"/>
              <a:t>It makes water quality analysis faster, smarter, and more accessible.</a:t>
            </a:r>
            <a:endParaRPr lang="en-US" altLang="de-DE" dirty="0"/>
          </a:p>
          <a:p>
            <a:endParaRPr lang="en-US" altLang="de-DE" dirty="0"/>
          </a:p>
          <a:p>
            <a:r>
              <a:rPr lang="en-US" altLang="de-DE" dirty="0"/>
              <a:t>Thank you for listening.</a:t>
            </a:r>
            <a:endParaRPr lang="en-US" alt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640080"/>
            <a:ext cx="1645920" cy="1645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5029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</p:spPr>
      </p:sp>
      <p:sp>
        <p:nvSpPr>
          <p:cNvPr id="5" name="Text 2"/>
          <p:cNvSpPr/>
          <p:nvPr/>
        </p:nvSpPr>
        <p:spPr>
          <a:xfrm>
            <a:off x="502920" y="5029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AI / ML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💧 Smart Water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02920" y="1920240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System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02920" y="28803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Water Potability Prediction with Real-Time Analysis &amp; History Tracking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0" name="Text 7"/>
          <p:cNvSpPr/>
          <p:nvPr/>
        </p:nvSpPr>
        <p:spPr>
          <a:xfrm>
            <a:off x="274320" y="4544568"/>
            <a:ext cx="8595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2DFDB"/>
                </a:solidFill>
              </a:rPr>
              <a:t>Full-Stack Web Application  |  Python + Streamlit + SQLite + REST API  |  Machine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1463040"/>
            <a:ext cx="33832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28600" y="2926080"/>
            <a:ext cx="33832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affects millions.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testing is slow, expensive,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inaccessible in many regions.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0" y="365760"/>
            <a:ext cx="22860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0" y="365760"/>
            <a:ext cx="2286000" cy="914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9" name="Text 6"/>
          <p:cNvSpPr/>
          <p:nvPr/>
        </p:nvSpPr>
        <p:spPr>
          <a:xfrm>
            <a:off x="4251960" y="54864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🎯  Goal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51960" y="960120"/>
            <a:ext cx="2011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if water is safe to drink using AI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0" y="2560320"/>
            <a:ext cx="22860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0" y="2560320"/>
            <a:ext cx="2286000" cy="914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3" name="Text 10"/>
          <p:cNvSpPr/>
          <p:nvPr/>
        </p:nvSpPr>
        <p:spPr>
          <a:xfrm>
            <a:off x="4251960" y="274320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⚡  Real-time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51960" y="3154680"/>
            <a:ext cx="2011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analysis via REST API integration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0" y="365760"/>
            <a:ext cx="22860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365760"/>
            <a:ext cx="2286000" cy="914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7" name="Text 14"/>
          <p:cNvSpPr/>
          <p:nvPr/>
        </p:nvSpPr>
        <p:spPr>
          <a:xfrm>
            <a:off x="6720840" y="54864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📊  History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20840" y="960120"/>
            <a:ext cx="2011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and store all past predictions in SQLite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0" y="2560320"/>
            <a:ext cx="22860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2560320"/>
            <a:ext cx="2286000" cy="914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1" name="Text 18"/>
          <p:cNvSpPr/>
          <p:nvPr/>
        </p:nvSpPr>
        <p:spPr>
          <a:xfrm>
            <a:off x="6720840" y="274320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🌍  Impact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20840" y="3154680"/>
            <a:ext cx="2011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water safety analysis fast &amp; accessible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" name="Shape 2"/>
          <p:cNvSpPr/>
          <p:nvPr/>
        </p:nvSpPr>
        <p:spPr>
          <a:xfrm>
            <a:off x="365760" y="1051560"/>
            <a:ext cx="2423160" cy="3200400"/>
          </a:xfrm>
          <a:prstGeom prst="rect">
            <a:avLst/>
          </a:prstGeom>
          <a:solidFill>
            <a:srgbClr val="028090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423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F6F6"/>
                </a:solidFill>
              </a:rPr>
              <a:t>Streamlit (Python)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423160" cy="3200400"/>
          </a:xfrm>
          <a:prstGeom prst="rect">
            <a:avLst/>
          </a:prstGeom>
          <a:solidFill>
            <a:srgbClr val="02C39A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188720"/>
            <a:ext cx="2423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F6F6"/>
                </a:solidFill>
              </a:rPr>
              <a:t>FastAPI – Port 9000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051560"/>
            <a:ext cx="2423160" cy="3200400"/>
          </a:xfrm>
          <a:prstGeom prst="rect">
            <a:avLst/>
          </a:prstGeom>
          <a:solidFill>
            <a:srgbClr val="065A82"/>
          </a:solidFill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188720"/>
            <a:ext cx="2423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423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F6F6"/>
                </a:solidFill>
              </a:rPr>
              <a:t>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15590" y="2556510"/>
            <a:ext cx="1051560" cy="6400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7" name="Text 15"/>
          <p:cNvSpPr/>
          <p:nvPr/>
        </p:nvSpPr>
        <p:spPr>
          <a:xfrm>
            <a:off x="3273552" y="2377440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847080" y="2560320"/>
            <a:ext cx="1051560" cy="64008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9" name="Text 17"/>
          <p:cNvSpPr/>
          <p:nvPr/>
        </p:nvSpPr>
        <p:spPr>
          <a:xfrm>
            <a:off x="6291072" y="2377440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" y="2834640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• User inputs 9 water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parameters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273552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• CSV upload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support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712464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• Realtime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display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2834640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• POST /predict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endpoint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3273552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• Returns label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confidence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3712464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• ML Classification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model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2834640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• Stores 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predictions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3273552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• History table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with timestamps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3712464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• Query &amp; 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AF6F6"/>
                </a:solidFill>
              </a:rPr>
              <a:t>history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FA9B8"/>
                </a:solidFill>
              </a:rPr>
              <a:t>Data Flow: User → Streamlit UI → FastAPI ML Model → Prediction + Save to SQLite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💧  Water Quality Parameters (9 Features)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1704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91440" cy="117043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393192" y="105156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⚗️  pH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4173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Unit: 0 –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67335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 range: 6.5 – 8.5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43200" cy="11704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91440" cy="117043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3337560" y="105156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🪨  Hardness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Unit: mg/L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67335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 range: &lt; 300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960120"/>
            <a:ext cx="2743200" cy="11704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960120"/>
            <a:ext cx="91440" cy="117043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6281928" y="105156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🧂  Solids (TDS)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81928" y="14173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Unit: mg/L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1928" y="167335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 range: &lt; 500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286000"/>
            <a:ext cx="2743200" cy="11704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286000"/>
            <a:ext cx="91440" cy="117043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1" name="Text 19"/>
          <p:cNvSpPr/>
          <p:nvPr/>
        </p:nvSpPr>
        <p:spPr>
          <a:xfrm>
            <a:off x="393192" y="237744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🧪  Chloramines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" y="274320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Unit: mg/L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" y="299923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 range: &lt; 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2286000"/>
            <a:ext cx="2743200" cy="11704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286000"/>
            <a:ext cx="91440" cy="117043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6" name="Text 24"/>
          <p:cNvSpPr/>
          <p:nvPr/>
        </p:nvSpPr>
        <p:spPr>
          <a:xfrm>
            <a:off x="3337560" y="237744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💨  Sulfate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274320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Unit: mg/L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99923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 range: &lt; 250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17336" y="2286000"/>
            <a:ext cx="2743200" cy="11704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2286000"/>
            <a:ext cx="91440" cy="117043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1" name="Text 29"/>
          <p:cNvSpPr/>
          <p:nvPr/>
        </p:nvSpPr>
        <p:spPr>
          <a:xfrm>
            <a:off x="6281928" y="237744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⚡  Conductivity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81928" y="274320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Unit: μS/cm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81928" y="299923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 range: &lt; 400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611880"/>
            <a:ext cx="2743200" cy="11704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611880"/>
            <a:ext cx="91440" cy="117043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6" name="Text 34"/>
          <p:cNvSpPr/>
          <p:nvPr/>
        </p:nvSpPr>
        <p:spPr>
          <a:xfrm>
            <a:off x="393192" y="370332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🌿  Organic Carbon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3192" y="406908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Unit: mg/L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3192" y="432511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 range: &lt; 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72968" y="3611880"/>
            <a:ext cx="2743200" cy="11704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72968" y="3611880"/>
            <a:ext cx="91440" cy="117043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1" name="Text 39"/>
          <p:cNvSpPr/>
          <p:nvPr/>
        </p:nvSpPr>
        <p:spPr>
          <a:xfrm>
            <a:off x="3337560" y="370332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🔬  Trihalomethanes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37560" y="406908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Unit: μg/L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37560" y="432511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 range: &lt; 80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17336" y="3611880"/>
            <a:ext cx="2743200" cy="11704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17336" y="3611880"/>
            <a:ext cx="91440" cy="117043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6" name="Text 44"/>
          <p:cNvSpPr/>
          <p:nvPr/>
        </p:nvSpPr>
        <p:spPr>
          <a:xfrm>
            <a:off x="6281928" y="370332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🌊  Turbidity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81928" y="406908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Unit: NTU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81928" y="432511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 range: &lt; 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FA9B8"/>
                </a:solidFill>
              </a:rPr>
              <a:t>The ML model analyzes all 9 parameters simultaneously to classify water as  Drinkable  or  Not Drinkable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4" name="Shape 2"/>
          <p:cNvSpPr/>
          <p:nvPr/>
        </p:nvSpPr>
        <p:spPr>
          <a:xfrm>
            <a:off x="320040" y="960120"/>
            <a:ext cx="4023360" cy="1170432"/>
          </a:xfrm>
          <a:prstGeom prst="rect">
            <a:avLst/>
          </a:prstGeom>
          <a:solidFill>
            <a:srgbClr val="0E2A40"/>
          </a:solidFill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09728" cy="1170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6" name="Shape 4"/>
          <p:cNvSpPr/>
          <p:nvPr/>
        </p:nvSpPr>
        <p:spPr>
          <a:xfrm>
            <a:off x="521208" y="1088136"/>
            <a:ext cx="475488" cy="47548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7" name="Text 5"/>
          <p:cNvSpPr/>
          <p:nvPr/>
        </p:nvSpPr>
        <p:spPr>
          <a:xfrm>
            <a:off x="521208" y="10881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9848" y="106984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Classification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463040"/>
            <a:ext cx="3108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 predicts if water is safe to drink with confidence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023360" cy="1170432"/>
          </a:xfrm>
          <a:prstGeom prst="rect">
            <a:avLst/>
          </a:prstGeom>
          <a:solidFill>
            <a:srgbClr val="0E2A40"/>
          </a:solidFill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109728" cy="1170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Shape 10"/>
          <p:cNvSpPr/>
          <p:nvPr/>
        </p:nvSpPr>
        <p:spPr>
          <a:xfrm>
            <a:off x="4910328" y="1088136"/>
            <a:ext cx="475488" cy="47548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1"/>
          <p:cNvSpPr/>
          <p:nvPr/>
        </p:nvSpPr>
        <p:spPr>
          <a:xfrm>
            <a:off x="4910328" y="10881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58968" y="106984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Upload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58968" y="1463040"/>
            <a:ext cx="3108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batch data from CSV files and analyze any row instantly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023360" cy="1170432"/>
          </a:xfrm>
          <a:prstGeom prst="rect">
            <a:avLst/>
          </a:prstGeom>
          <a:solidFill>
            <a:srgbClr val="0E2A40"/>
          </a:solidFill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86000"/>
            <a:ext cx="109728" cy="1170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8" name="Shape 16"/>
          <p:cNvSpPr/>
          <p:nvPr/>
        </p:nvSpPr>
        <p:spPr>
          <a:xfrm>
            <a:off x="521208" y="2414016"/>
            <a:ext cx="475488" cy="47548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9" name="Text 17"/>
          <p:cNvSpPr/>
          <p:nvPr/>
        </p:nvSpPr>
        <p:spPr>
          <a:xfrm>
            <a:off x="521208" y="24140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" y="239572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History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9848" y="2788920"/>
            <a:ext cx="3108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results saved to SQLite with timestamps for audit trail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4023360" cy="1170432"/>
          </a:xfrm>
          <a:prstGeom prst="rect">
            <a:avLst/>
          </a:prstGeom>
          <a:solidFill>
            <a:srgbClr val="0E2A40"/>
          </a:solidFill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86000"/>
            <a:ext cx="109728" cy="1170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4" name="Shape 22"/>
          <p:cNvSpPr/>
          <p:nvPr/>
        </p:nvSpPr>
        <p:spPr>
          <a:xfrm>
            <a:off x="4910328" y="2414016"/>
            <a:ext cx="475488" cy="47548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5" name="Text 23"/>
          <p:cNvSpPr/>
          <p:nvPr/>
        </p:nvSpPr>
        <p:spPr>
          <a:xfrm>
            <a:off x="4910328" y="24140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58968" y="239572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58968" y="2788920"/>
            <a:ext cx="3108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FastAPI backend on port 9000 for easy integration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4023360" cy="1170432"/>
          </a:xfrm>
          <a:prstGeom prst="rect">
            <a:avLst/>
          </a:prstGeom>
          <a:solidFill>
            <a:srgbClr val="0E2A40"/>
          </a:solidFill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11880"/>
            <a:ext cx="109728" cy="1170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0" name="Shape 28"/>
          <p:cNvSpPr/>
          <p:nvPr/>
        </p:nvSpPr>
        <p:spPr>
          <a:xfrm>
            <a:off x="521208" y="3739896"/>
            <a:ext cx="475488" cy="47548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31" name="Text 29"/>
          <p:cNvSpPr/>
          <p:nvPr/>
        </p:nvSpPr>
        <p:spPr>
          <a:xfrm>
            <a:off x="521208" y="37398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69848" y="372160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Score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9848" y="4114800"/>
            <a:ext cx="3108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prediction shows a % confidence level from the model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611880"/>
            <a:ext cx="4023360" cy="1170432"/>
          </a:xfrm>
          <a:prstGeom prst="rect">
            <a:avLst/>
          </a:prstGeom>
          <a:solidFill>
            <a:srgbClr val="0E2A40"/>
          </a:solidFill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11880"/>
            <a:ext cx="109728" cy="1170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6" name="Shape 34"/>
          <p:cNvSpPr/>
          <p:nvPr/>
        </p:nvSpPr>
        <p:spPr>
          <a:xfrm>
            <a:off x="4910328" y="3739896"/>
            <a:ext cx="475488" cy="47548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37" name="Text 35"/>
          <p:cNvSpPr/>
          <p:nvPr/>
        </p:nvSpPr>
        <p:spPr>
          <a:xfrm>
            <a:off x="4910328" y="37398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58968" y="3721608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Results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58968" y="4114800"/>
            <a:ext cx="3108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feedback with color-coded safe / unsafe alerts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🛠️ 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38912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411480" y="96012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52704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8" name="Text 6"/>
          <p:cNvSpPr/>
          <p:nvPr/>
        </p:nvSpPr>
        <p:spPr>
          <a:xfrm>
            <a:off x="438912" y="152704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Streamlit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1640" y="152704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10" name="Text 8"/>
          <p:cNvSpPr/>
          <p:nvPr/>
        </p:nvSpPr>
        <p:spPr>
          <a:xfrm>
            <a:off x="1691640" y="152704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Python 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44368" y="152704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12" name="Text 10"/>
          <p:cNvSpPr/>
          <p:nvPr/>
        </p:nvSpPr>
        <p:spPr>
          <a:xfrm>
            <a:off x="2944368" y="152704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Pandas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4114800" cy="438912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5" name="Text 13"/>
          <p:cNvSpPr/>
          <p:nvPr/>
        </p:nvSpPr>
        <p:spPr>
          <a:xfrm>
            <a:off x="4846320" y="96012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73752" y="152704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17" name="Text 15"/>
          <p:cNvSpPr/>
          <p:nvPr/>
        </p:nvSpPr>
        <p:spPr>
          <a:xfrm>
            <a:off x="4873752" y="152704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FastAPI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52704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19" name="Text 17"/>
          <p:cNvSpPr/>
          <p:nvPr/>
        </p:nvSpPr>
        <p:spPr>
          <a:xfrm>
            <a:off x="6126480" y="152704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Uvicorn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79208" y="152704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21" name="Text 19"/>
          <p:cNvSpPr/>
          <p:nvPr/>
        </p:nvSpPr>
        <p:spPr>
          <a:xfrm>
            <a:off x="7379208" y="152704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Pydantic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26080"/>
            <a:ext cx="4114800" cy="438912"/>
          </a:xfrm>
          <a:prstGeom prst="rect">
            <a:avLst/>
          </a:prstGeom>
          <a:solidFill>
            <a:srgbClr val="1B6CA8"/>
          </a:solidFill>
        </p:spPr>
      </p:sp>
      <p:sp>
        <p:nvSpPr>
          <p:cNvPr id="24" name="Text 22"/>
          <p:cNvSpPr/>
          <p:nvPr/>
        </p:nvSpPr>
        <p:spPr>
          <a:xfrm>
            <a:off x="411480" y="292608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" y="349300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26" name="Text 24"/>
          <p:cNvSpPr/>
          <p:nvPr/>
        </p:nvSpPr>
        <p:spPr>
          <a:xfrm>
            <a:off x="438912" y="349300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SQLite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91640" y="349300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28" name="Text 26"/>
          <p:cNvSpPr/>
          <p:nvPr/>
        </p:nvSpPr>
        <p:spPr>
          <a:xfrm>
            <a:off x="1691640" y="349300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SQL Queries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44368" y="349300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30" name="Text 28"/>
          <p:cNvSpPr/>
          <p:nvPr/>
        </p:nvSpPr>
        <p:spPr>
          <a:xfrm>
            <a:off x="2944368" y="349300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Auto History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26080"/>
            <a:ext cx="4114800" cy="43891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3" name="Text 31"/>
          <p:cNvSpPr/>
          <p:nvPr/>
        </p:nvSpPr>
        <p:spPr>
          <a:xfrm>
            <a:off x="4846320" y="292608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ML Model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73752" y="349300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35" name="Text 33"/>
          <p:cNvSpPr/>
          <p:nvPr/>
        </p:nvSpPr>
        <p:spPr>
          <a:xfrm>
            <a:off x="4873752" y="349300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Scikit-learn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0" y="349300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37" name="Text 35"/>
          <p:cNvSpPr/>
          <p:nvPr/>
        </p:nvSpPr>
        <p:spPr>
          <a:xfrm>
            <a:off x="6126480" y="349300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JSON API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79208" y="3493008"/>
            <a:ext cx="1097280" cy="475488"/>
          </a:xfrm>
          <a:prstGeom prst="roundRect">
            <a:avLst>
              <a:gd name="adj" fmla="val 13462"/>
            </a:avLst>
          </a:prstGeom>
          <a:solidFill>
            <a:srgbClr val="EAF6F6"/>
          </a:solidFill>
        </p:spPr>
      </p:sp>
      <p:sp>
        <p:nvSpPr>
          <p:cNvPr id="39" name="Text 37"/>
          <p:cNvSpPr/>
          <p:nvPr/>
        </p:nvSpPr>
        <p:spPr>
          <a:xfrm>
            <a:off x="7379208" y="349300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</a:rPr>
              <a:t>Confidence Score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FA9B8"/>
                </a:solidFill>
              </a:rPr>
              <a:t>Fully modular stack — each component can be replaced or upgraded independently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5029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6583680" cy="36576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6" name="Text 3"/>
          <p:cNvSpPr/>
          <p:nvPr/>
        </p:nvSpPr>
        <p:spPr>
          <a:xfrm>
            <a:off x="457200" y="1078992"/>
            <a:ext cx="8046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AI model classifies water as Drinkable / Not Drinkable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581912"/>
            <a:ext cx="8046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9 chemical parameters analyzed simultaneously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8046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Real-time REST API with confidence scores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587752"/>
            <a:ext cx="8046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Persistent history stored in SQLite database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090672"/>
            <a:ext cx="8046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CSV bulk-upload for batch testing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593592"/>
            <a:ext cx="8046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DF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Clean, interactive Streamlit web interface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13" name="Text 10"/>
          <p:cNvSpPr/>
          <p:nvPr/>
        </p:nvSpPr>
        <p:spPr>
          <a:xfrm>
            <a:off x="274320" y="4544568"/>
            <a:ext cx="8595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C39A"/>
                </a:solidFill>
              </a:rPr>
              <a:t>💧  Making water safety analysis fast, intelligent, and accessible to everyone.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2521</Words>
  <Application>WPS Presentation</Application>
  <PresentationFormat>On-screen Show (16:9)</PresentationFormat>
  <Paragraphs>234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Water Monitoring System</dc:title>
  <dc:creator>Water Quality AI</dc:creator>
  <dc:subject>PptxGenJS Presentation</dc:subject>
  <cp:lastModifiedBy>PC</cp:lastModifiedBy>
  <cp:revision>19</cp:revision>
  <dcterms:created xsi:type="dcterms:W3CDTF">2026-04-19T01:34:00Z</dcterms:created>
  <dcterms:modified xsi:type="dcterms:W3CDTF">2026-04-20T14:00:39Z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668497BAD35B4CCCB20D7179A0B4B433_12</vt:lpwstr>
  </property>
  <property fmtid="{D5CDD505-2E9C-101B-9397-08002B2CF9AE}" pid="3" name="KSOProductBuildVer">
    <vt:lpwstr>1031-12.2.0.23201</vt:lpwstr>
  </property>
</Properties>
</file>